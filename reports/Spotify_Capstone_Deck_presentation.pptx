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94614"/>
  </p:normalViewPr>
  <p:slideViewPr>
    <p:cSldViewPr snapToGrid="0" snapToObjects="1">
      <p:cViewPr varScale="1">
        <p:scale>
          <a:sx n="112" d="100"/>
          <a:sy n="112" d="100"/>
        </p:scale>
        <p:origin x="44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DF9EF-BC23-8747-9B9B-96552A7EB82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09CC91-E271-CC47-9669-EAC7B0B3A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50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9CC91-E271-CC47-9669-EAC7B0B3AC8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77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9CC91-E271-CC47-9669-EAC7B0B3AC8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8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ublic.tableau.com/views/Spotify_Dashboard_17774564636670/Dashboard1?:language=en-US&amp;publish=yes&amp;:sid=&amp;:redirect=auth&amp;:display_count=n&amp;:origin=viz_share_link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-1371600"/>
            <a:ext cx="7315200" cy="7315200"/>
          </a:xfrm>
          <a:prstGeom prst="ellipse">
            <a:avLst/>
          </a:prstGeom>
          <a:gradFill flip="none" rotWithShape="1">
            <a:gsLst>
              <a:gs pos="0">
                <a:srgbClr val="1DB954">
                  <a:alpha val="60000"/>
                </a:srgbClr>
              </a:gs>
              <a:gs pos="60000">
                <a:srgbClr val="1DB954">
                  <a:alpha val="20000"/>
                </a:srgbClr>
              </a:gs>
              <a:gs pos="100000">
                <a:srgbClr val="000000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502920"/>
            <a:ext cx="15544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100" b="1" i="0" dirty="0">
                <a:solidFill>
                  <a:srgbClr val="FFFFFF"/>
                </a:solidFill>
                <a:latin typeface="Calibri"/>
              </a:rPr>
              <a:t>SPOTIFY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502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11480"/>
            <a:ext cx="7315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A7A7A7"/>
                </a:solidFill>
                <a:latin typeface="Calibri"/>
              </a:rPr>
              <a:t>·  DATA VISUALIZATION &amp; ANALYTICS ·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0584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200" b="1" i="0">
                <a:solidFill>
                  <a:srgbClr val="FFFFFF"/>
                </a:solidFill>
                <a:latin typeface="Calibri"/>
              </a:rPr>
              <a:t>Spotify.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100584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6400" b="1" i="0">
                <a:solidFill>
                  <a:srgbClr val="7CE0B4"/>
                </a:solidFill>
                <a:latin typeface="Calibri"/>
              </a:rPr>
              <a:t>User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100584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6400" b="1" i="1">
                <a:solidFill>
                  <a:srgbClr val="FFFFFF"/>
                </a:solidFill>
                <a:latin typeface="Calibri"/>
              </a:rPr>
              <a:t>&amp; 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94760"/>
            <a:ext cx="10058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 i="1">
                <a:solidFill>
                  <a:srgbClr val="A7A7A7"/>
                </a:solidFill>
                <a:latin typeface="Calibri"/>
              </a:rPr>
              <a:t>Decoding engagement, churn &amp; conversion across 49,985 Spotify users.</a:t>
            </a:r>
          </a:p>
        </p:txBody>
      </p:sp>
      <p:pic>
        <p:nvPicPr>
          <p:cNvPr id="11" name="Picture 10" descr="sound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617720"/>
            <a:ext cx="5669280" cy="128777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5394960"/>
            <a:ext cx="2697480" cy="868680"/>
          </a:xfrm>
          <a:prstGeom prst="roundRect">
            <a:avLst>
              <a:gd name="adj" fmla="val 18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7512" y="5577840"/>
            <a:ext cx="146304" cy="5029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2103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 i="0">
                <a:solidFill>
                  <a:srgbClr val="A7A7A7"/>
                </a:solidFill>
                <a:latin typeface="Calibri"/>
              </a:rPr>
              <a:t>SECTOR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79008"/>
            <a:ext cx="21945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Music Streaming · D2C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5394960"/>
            <a:ext cx="2697480" cy="868680"/>
          </a:xfrm>
          <a:prstGeom prst="roundRect">
            <a:avLst>
              <a:gd name="adj" fmla="val 18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02152" y="5577840"/>
            <a:ext cx="146304" cy="5029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50000">
                <a:srgbClr val="2DD4BF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0" y="5532120"/>
            <a:ext cx="2103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 i="0">
                <a:solidFill>
                  <a:srgbClr val="A7A7A7"/>
                </a:solidFill>
                <a:latin typeface="Calibri"/>
              </a:rP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5779008"/>
            <a:ext cx="21945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Section D · Group 18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5394960"/>
            <a:ext cx="2697480" cy="868680"/>
          </a:xfrm>
          <a:prstGeom prst="roundRect">
            <a:avLst>
              <a:gd name="adj" fmla="val 18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36792" y="5577840"/>
            <a:ext cx="146304" cy="5029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50000">
                <a:srgbClr val="F472B6"/>
              </a:gs>
              <a:gs pos="100000">
                <a:srgbClr val="FBBF2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5532120"/>
            <a:ext cx="2103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 i="0">
                <a:solidFill>
                  <a:srgbClr val="A7A7A7"/>
                </a:solidFill>
                <a:latin typeface="Calibri"/>
              </a:rPr>
              <a:t>MENTOR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779008"/>
            <a:ext cx="219456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Faculty Mentor — 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Archit Raj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006840" y="5394960"/>
            <a:ext cx="2697480" cy="868680"/>
          </a:xfrm>
          <a:prstGeom prst="roundRect">
            <a:avLst>
              <a:gd name="adj" fmla="val 18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71432" y="5577840"/>
            <a:ext cx="146304" cy="5029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5532120"/>
            <a:ext cx="2103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 i="0">
                <a:solidFill>
                  <a:srgbClr val="A7A7A7"/>
                </a:solidFill>
                <a:latin typeface="Calibri"/>
              </a:rPr>
              <a:t>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5779008"/>
            <a:ext cx="21945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49,985 users · 8 countries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00800"/>
            <a:ext cx="6858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7CE0B4"/>
                </a:solidFill>
                <a:latin typeface="Calibri"/>
              </a:rPr>
              <a:t>github.com/aaneesa/SectionD_Gr18_Spotify-User-Behavior-And-Pattern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400800"/>
            <a:ext cx="4114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 i="0">
                <a:solidFill>
                  <a:srgbClr val="7CE0B4"/>
                </a:solidFill>
                <a:latin typeface="Calibri"/>
              </a:rPr>
              <a:t>tableau public · Spotify_final2_and_3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9CCA8B5-68BC-1FDD-7D54-6F238BBFA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703" y="248923"/>
            <a:ext cx="919473" cy="9194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02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7315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A7A7A7"/>
                </a:solidFill>
                <a:latin typeface="Calibri"/>
              </a:rPr>
              <a:t>·  CONTEXT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1 in 5 Spotify users vanish.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4300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0" i="1">
                <a:solidFill>
                  <a:srgbClr val="A7A7A7"/>
                </a:solidFill>
                <a:latin typeface="Calibri"/>
              </a:rPr>
              <a:t>Why — and which signals scream it before they leave?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3657600" cy="352044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3657600" cy="14630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834640"/>
            <a:ext cx="3200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SECTOR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337560"/>
            <a:ext cx="3200400" cy="2560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5F5F5"/>
                </a:solidFill>
                <a:latin typeface="Calibri"/>
              </a:rPr>
              <a:t>Streaming is a $30B race won at the margin. CAC is 5–7× retention cost. Decision-maker: Head of Growth &amp; Retention.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468880"/>
            <a:ext cx="3657600" cy="352044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43400" y="2468880"/>
            <a:ext cx="3657600" cy="14630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50000">
                <a:srgbClr val="2DD4BF"/>
              </a:gs>
              <a:gs pos="100000">
                <a:srgbClr val="60A5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2834640"/>
            <a:ext cx="3200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3337560"/>
            <a:ext cx="3200400" cy="2560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5F5F5"/>
                </a:solidFill>
                <a:latin typeface="Calibri"/>
              </a:rPr>
              <a:t>Which users are silently churning, which behaviours predict it, and where exactly does the Free → Paid funnel leak?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468880"/>
            <a:ext cx="3520440" cy="352044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38160" y="2468880"/>
            <a:ext cx="3520440" cy="14630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50000">
                <a:srgbClr val="F472B6"/>
              </a:gs>
              <a:gs pos="100000">
                <a:srgbClr val="FBBF2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2834640"/>
            <a:ext cx="3063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337560"/>
            <a:ext cx="3063240" cy="2560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5F5F5"/>
                </a:solidFill>
                <a:latin typeface="Calibri"/>
              </a:rPr>
              <a:t>Surface the 3–5 levers Growth can pull this quarter — backed by the data, ranked by ROI, ready to A/B.</a:t>
            </a:r>
          </a:p>
        </p:txBody>
      </p:sp>
      <p:pic>
        <p:nvPicPr>
          <p:cNvPr id="18" name="Picture 17" descr="soundwave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5601382"/>
            <a:ext cx="11064240" cy="25132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3400" y="611237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1" i="0" dirty="0">
                <a:solidFill>
                  <a:srgbClr val="A7A7A7"/>
                </a:solidFill>
                <a:latin typeface="Calibri"/>
              </a:rPr>
              <a:t>SPOTIFY  ·  USER BEHAVIOR &amp;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611237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i="0">
                <a:solidFill>
                  <a:srgbClr val="A7A7A7"/>
                </a:solidFill>
                <a:latin typeface="Calibri"/>
              </a:rPr>
              <a:t>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 i="0">
                <a:solidFill>
                  <a:srgbClr val="A7A7A7"/>
                </a:solidFill>
                <a:latin typeface="Calibr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02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7315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A7A7A7"/>
                </a:solidFill>
                <a:latin typeface="Calibri"/>
              </a:rPr>
              <a:t>· 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From raw CSV to analysis-ready in 4 beats.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97480" cy="160020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2697480" cy="914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94559"/>
            <a:ext cx="269748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800" b="1" i="0">
                <a:solidFill>
                  <a:srgbClr val="1ED760"/>
                </a:solidFill>
                <a:latin typeface="Calibri"/>
              </a:rPr>
              <a:t>49,985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799"/>
            <a:ext cx="26974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A7A7A7"/>
                </a:solidFill>
                <a:latin typeface="Calibri"/>
              </a:rPr>
              <a:t>USERS  / 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74519"/>
            <a:ext cx="2697480" cy="160020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83280" y="1874519"/>
            <a:ext cx="2697480" cy="914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50000">
                <a:srgbClr val="2DD4BF"/>
              </a:gs>
              <a:gs pos="100000">
                <a:srgbClr val="60A5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2194559"/>
            <a:ext cx="269748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800" b="1" i="0">
                <a:solidFill>
                  <a:srgbClr val="60A5FA"/>
                </a:solidFill>
                <a:latin typeface="Calibri"/>
              </a:rPr>
              <a:t>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71799"/>
            <a:ext cx="26974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A7A7A7"/>
                </a:solidFill>
                <a:latin typeface="Calibri"/>
              </a:rPr>
              <a:t>FEATURES  / 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2697480" cy="160020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17920" y="1874519"/>
            <a:ext cx="2697480" cy="914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50000">
                <a:srgbClr val="F472B6"/>
              </a:gs>
              <a:gs pos="100000">
                <a:srgbClr val="FBBF2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59"/>
            <a:ext cx="269748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  <a:latin typeface="Calibri"/>
              </a:rPr>
              <a:t>2022–24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799"/>
            <a:ext cx="26974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A7A7A7"/>
                </a:solidFill>
                <a:latin typeface="Calibri"/>
              </a:rPr>
              <a:t>TIME PERIOD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874519"/>
            <a:ext cx="2697480" cy="160020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52560" y="1874519"/>
            <a:ext cx="2697480" cy="914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472B6"/>
              </a:gs>
              <a:gs pos="50000">
                <a:srgbClr val="FF6B6B"/>
              </a:gs>
              <a:gs pos="100000">
                <a:srgbClr val="FBBF2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2194559"/>
            <a:ext cx="269748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800" b="1" i="0">
                <a:solidFill>
                  <a:srgbClr val="F472B6"/>
                </a:solidFill>
                <a:latin typeface="Calibri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971799"/>
            <a:ext cx="26974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1" i="0">
                <a:solidFill>
                  <a:srgbClr val="A7A7A7"/>
                </a:solidFill>
                <a:latin typeface="Calibri"/>
              </a:rPr>
              <a:t>GENRES  /  8 COUNTRIES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PYTHON ETL  ·  notebooks 01_ingest.ipynb &amp; 02_clean.ipynb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605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48640" y="4160520"/>
            <a:ext cx="91440" cy="14630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4325112"/>
            <a:ext cx="548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ED76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572000"/>
            <a:ext cx="2331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029200"/>
            <a:ext cx="23317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A7A7A7"/>
                </a:solidFill>
                <a:latin typeface="Calibri"/>
              </a:rPr>
              <a:t>pandas · raw csv → dataframe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2" y="41605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364992" y="4160520"/>
            <a:ext cx="91440" cy="14630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50000">
                <a:srgbClr val="2DD4BF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0" y="4325112"/>
            <a:ext cx="548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572000"/>
            <a:ext cx="2331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CLEAN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029200"/>
            <a:ext cx="23317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A7A7A7"/>
                </a:solidFill>
                <a:latin typeface="Calibri"/>
              </a:rPr>
              <a:t>median impute · drop sparse cols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41605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181344" y="4160520"/>
            <a:ext cx="91440" cy="14630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50000">
                <a:srgbClr val="F472B6"/>
              </a:gs>
              <a:gs pos="100000">
                <a:srgbClr val="FBBF2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4325112"/>
            <a:ext cx="548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572000"/>
            <a:ext cx="2331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OUTLIERS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5029200"/>
            <a:ext cx="23317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A7A7A7"/>
                </a:solidFill>
                <a:latin typeface="Calibri"/>
              </a:rPr>
              <a:t>IQR clip on listening / skips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97696" y="41605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997696" y="4160520"/>
            <a:ext cx="91440" cy="14630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472B6"/>
              </a:gs>
              <a:gs pos="50000">
                <a:srgbClr val="FF6B6B"/>
              </a:gs>
              <a:gs pos="100000">
                <a:srgbClr val="FBBF2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90304" y="4325112"/>
            <a:ext cx="548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F472B6"/>
                </a:solidFill>
                <a:latin typeface="Calibr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4572000"/>
            <a:ext cx="2331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ENGINEER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0304" y="5029200"/>
            <a:ext cx="23317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A7A7A7"/>
                </a:solidFill>
                <a:latin typeface="Calibri"/>
              </a:rPr>
              <a:t>tenure_months · engagement_score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7240" y="5779008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 i="0">
                <a:solidFill>
                  <a:srgbClr val="1ED760"/>
                </a:solidFill>
                <a:latin typeface="Calibri"/>
              </a:rPr>
              <a:t>KEY COLUMNS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89320"/>
            <a:ext cx="105156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  <a:latin typeface="Calibri"/>
              </a:rPr>
              <a:t>engagement_score · is_churned · tenure_months · subscription_type · ad_conversion · primary_device · favorite_genre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1" i="0">
                <a:solidFill>
                  <a:srgbClr val="A7A7A7"/>
                </a:solidFill>
                <a:latin typeface="Calibri"/>
              </a:rPr>
              <a:t>SPOTIFY  ·  USER BEHAVIOR &amp; PATTERNS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644652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i="0">
                <a:solidFill>
                  <a:srgbClr val="A7A7A7"/>
                </a:solidFill>
                <a:latin typeface="Calibri"/>
              </a:rPr>
              <a:t>DATA ENGINEERING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 i="0">
                <a:solidFill>
                  <a:srgbClr val="A7A7A7"/>
                </a:solidFill>
                <a:latin typeface="Calibr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02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7315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A7A7A7"/>
                </a:solidFill>
                <a:latin typeface="Calibri"/>
              </a:rPr>
              <a:t>·  KPI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Five tracks on the album.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430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A7A7A7"/>
                </a:solidFill>
                <a:latin typeface="Calibri"/>
              </a:rPr>
              <a:t>Real numbers from the dashboards — every KPI computed in 04_kpi.ipynb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2157984" cy="269748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1883664" cy="77724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F472B6"/>
              </a:gs>
              <a:gs pos="50000">
                <a:srgbClr val="FF6B6B"/>
              </a:gs>
              <a:gs pos="100000">
                <a:srgbClr val="FBBF2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32888"/>
            <a:ext cx="170078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CHURN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2157984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000" b="1" i="0">
                <a:solidFill>
                  <a:srgbClr val="FF6B6B"/>
                </a:solidFill>
                <a:latin typeface="Calibri"/>
              </a:rPr>
              <a:t>22.24%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792224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0">
                <a:solidFill>
                  <a:srgbClr val="A7A7A7"/>
                </a:solidFill>
                <a:latin typeface="Calibri"/>
              </a:rPr>
              <a:t>users gone in 90d</a:t>
            </a:r>
          </a:p>
        </p:txBody>
      </p:sp>
      <p:sp>
        <p:nvSpPr>
          <p:cNvPr id="11" name="Oval 10"/>
          <p:cNvSpPr/>
          <p:nvPr/>
        </p:nvSpPr>
        <p:spPr>
          <a:xfrm>
            <a:off x="1581912" y="4709160"/>
            <a:ext cx="91440" cy="9144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98064" y="2240280"/>
            <a:ext cx="2157984" cy="269748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35224" y="2377440"/>
            <a:ext cx="1883664" cy="77724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A78BFA"/>
              </a:gs>
              <a:gs pos="50000">
                <a:srgbClr val="F472B6"/>
              </a:gs>
              <a:gs pos="100000">
                <a:srgbClr val="FBBF2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26664" y="2532888"/>
            <a:ext cx="170078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LIKELY CHURN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4" y="3337560"/>
            <a:ext cx="2157984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  <a:latin typeface="Calibri"/>
              </a:rPr>
              <a:t>38.56%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4251960"/>
            <a:ext cx="1792224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0">
                <a:solidFill>
                  <a:srgbClr val="A7A7A7"/>
                </a:solidFill>
                <a:latin typeface="Calibri"/>
              </a:rPr>
              <a:t>predictive — leading lag</a:t>
            </a:r>
          </a:p>
        </p:txBody>
      </p:sp>
      <p:sp>
        <p:nvSpPr>
          <p:cNvPr id="17" name="Oval 16"/>
          <p:cNvSpPr/>
          <p:nvPr/>
        </p:nvSpPr>
        <p:spPr>
          <a:xfrm>
            <a:off x="3831336" y="4709160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47488" y="2240280"/>
            <a:ext cx="2157984" cy="269748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84648" y="2377440"/>
            <a:ext cx="1883664" cy="77724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1DB954"/>
              </a:gs>
              <a:gs pos="50000">
                <a:srgbClr val="2DD4BF"/>
              </a:gs>
              <a:gs pos="100000">
                <a:srgbClr val="60A5F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76088" y="2532888"/>
            <a:ext cx="170078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CONVERSION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3337560"/>
            <a:ext cx="2157984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000" b="1" i="0">
                <a:solidFill>
                  <a:srgbClr val="60A5FA"/>
                </a:solidFill>
                <a:latin typeface="Calibri"/>
              </a:rPr>
              <a:t>24.87%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4251960"/>
            <a:ext cx="1792224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0">
                <a:solidFill>
                  <a:srgbClr val="A7A7A7"/>
                </a:solidFill>
                <a:latin typeface="Calibri"/>
              </a:rPr>
              <a:t>ad-click → paid</a:t>
            </a:r>
          </a:p>
        </p:txBody>
      </p:sp>
      <p:sp>
        <p:nvSpPr>
          <p:cNvPr id="23" name="Oval 22"/>
          <p:cNvSpPr/>
          <p:nvPr/>
        </p:nvSpPr>
        <p:spPr>
          <a:xfrm>
            <a:off x="6080760" y="4709160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296912" y="2240280"/>
            <a:ext cx="2157984" cy="269748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34072" y="2377440"/>
            <a:ext cx="1883664" cy="77724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25512" y="2532888"/>
            <a:ext cx="170078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ENGAGEMENT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3337560"/>
            <a:ext cx="2157984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000" b="1" i="0">
                <a:solidFill>
                  <a:srgbClr val="1ED760"/>
                </a:solidFill>
                <a:latin typeface="Calibri"/>
              </a:rPr>
              <a:t>0.484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4251960"/>
            <a:ext cx="1792224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0">
                <a:solidFill>
                  <a:srgbClr val="A7A7A7"/>
                </a:solidFill>
                <a:latin typeface="Calibri"/>
              </a:rPr>
              <a:t>AVG(engagement_score)</a:t>
            </a:r>
          </a:p>
        </p:txBody>
      </p:sp>
      <p:sp>
        <p:nvSpPr>
          <p:cNvPr id="29" name="Oval 28"/>
          <p:cNvSpPr/>
          <p:nvPr/>
        </p:nvSpPr>
        <p:spPr>
          <a:xfrm>
            <a:off x="8330184" y="4709160"/>
            <a:ext cx="91440" cy="9144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546336" y="2240280"/>
            <a:ext cx="2157984" cy="269748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683496" y="2377440"/>
            <a:ext cx="1883664" cy="77724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74936" y="2532888"/>
            <a:ext cx="170078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PREMIUM 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6336" y="3337560"/>
            <a:ext cx="2157984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000" b="1" i="0">
                <a:solidFill>
                  <a:srgbClr val="7CE0B4"/>
                </a:solidFill>
                <a:latin typeface="Calibri"/>
              </a:rPr>
              <a:t>27,385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9216" y="4251960"/>
            <a:ext cx="1792224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0">
                <a:solidFill>
                  <a:srgbClr val="A7A7A7"/>
                </a:solidFill>
                <a:latin typeface="Calibri"/>
              </a:rPr>
              <a:t>55% paid base</a:t>
            </a:r>
          </a:p>
        </p:txBody>
      </p:sp>
      <p:sp>
        <p:nvSpPr>
          <p:cNvPr id="35" name="Oval 34"/>
          <p:cNvSpPr/>
          <p:nvPr/>
        </p:nvSpPr>
        <p:spPr>
          <a:xfrm>
            <a:off x="10579608" y="4709160"/>
            <a:ext cx="91440" cy="91440"/>
          </a:xfrm>
          <a:prstGeom prst="ellipse">
            <a:avLst/>
          </a:prstGeom>
          <a:solidFill>
            <a:srgbClr val="7C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48640" y="5166360"/>
            <a:ext cx="11091672" cy="132588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48640" y="5166360"/>
            <a:ext cx="91440" cy="13258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5285232"/>
            <a:ext cx="10515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ED760"/>
                </a:solidFill>
                <a:latin typeface="Calibri"/>
              </a:rPr>
              <a:t>WHY THESE FIVE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605272"/>
            <a:ext cx="1069848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5F5F5"/>
                </a:solidFill>
                <a:latin typeface="Calibri"/>
              </a:rPr>
              <a:t>Churn &amp; Likely-Churn answer who's leaving and who will leave next.  Conversion answers how well we monetise.  Engagement is the strongest behavioural input.  Premium-Users monetises every action into a number the business can act 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1" i="0">
                <a:solidFill>
                  <a:srgbClr val="A7A7A7"/>
                </a:solidFill>
                <a:latin typeface="Calibri"/>
              </a:rPr>
              <a:t>SPOTIFY  ·  USER BEHAVIOR &amp; PATTERNS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644652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i="0">
                <a:solidFill>
                  <a:srgbClr val="A7A7A7"/>
                </a:solidFill>
                <a:latin typeface="Calibri"/>
              </a:rPr>
              <a:t>KPI FRAMEWORK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 i="0">
                <a:solidFill>
                  <a:srgbClr val="A7A7A7"/>
                </a:solidFill>
                <a:latin typeface="Calibr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02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7315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A7A7A7"/>
                </a:solidFill>
                <a:latin typeface="Calibri"/>
              </a:rPr>
              <a:t>·  KEY INSIGHTS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Six tracks the data put on repeat.</a:t>
            </a:r>
          </a:p>
        </p:txBody>
      </p:sp>
      <p:pic>
        <p:nvPicPr>
          <p:cNvPr id="5" name="Picture 4" descr="genre_h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943600" cy="34108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546011"/>
            <a:ext cx="4983480" cy="1298448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75120" y="1546011"/>
            <a:ext cx="91440" cy="129844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03720" y="1637451"/>
            <a:ext cx="548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37451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Free is 45% of the base — biggest 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003211"/>
            <a:ext cx="4617720" cy="7498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A7A7A7"/>
                </a:solidFill>
                <a:latin typeface="Calibri"/>
              </a:rPr>
              <a:t>22,600 users on Free vs. 27,385 on Paid plans. The paywall is THE growth flywheel.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954187"/>
            <a:ext cx="4983480" cy="1298448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675120" y="2954187"/>
            <a:ext cx="91440" cy="129844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50000">
                <a:srgbClr val="2DD4BF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3045627"/>
            <a:ext cx="548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045627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Engagement barely moves churn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411387"/>
            <a:ext cx="4617720" cy="7498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A7A7A7"/>
                </a:solidFill>
                <a:latin typeface="Calibri"/>
              </a:rPr>
              <a:t>Even 'High' engagers churn at 61.6%. Behaviour signals don't separate stayers from leavers in this snapshot.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351074"/>
            <a:ext cx="4983480" cy="1298448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75120" y="4328496"/>
            <a:ext cx="91440" cy="129844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50000">
                <a:srgbClr val="F472B6"/>
              </a:gs>
              <a:gs pos="100000">
                <a:srgbClr val="FBBF2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4408647"/>
            <a:ext cx="5486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408647"/>
            <a:ext cx="42062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Geography is uniform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853430"/>
            <a:ext cx="4617720" cy="7498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A7A7A7"/>
                </a:solidFill>
                <a:latin typeface="Calibri"/>
              </a:rPr>
              <a:t>All 12 markets churn at 60–62%. Country isn't the lever — same product, same drop-off.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15000"/>
            <a:ext cx="3657600" cy="59436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8640" y="5715000"/>
            <a:ext cx="3657600" cy="7315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472B6"/>
              </a:gs>
              <a:gs pos="50000">
                <a:srgbClr val="FF6B6B"/>
              </a:gs>
              <a:gs pos="100000">
                <a:srgbClr val="FBBF2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5879592"/>
            <a:ext cx="6400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F472B6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824728"/>
            <a:ext cx="2788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F5F5F5"/>
                </a:solidFill>
                <a:latin typeface="Calibri"/>
              </a:rPr>
              <a:t>Genre is flat — pop ≈ classical ≈ rock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5715000"/>
            <a:ext cx="3657600" cy="59436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43400" y="5715000"/>
            <a:ext cx="3657600" cy="7315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50000">
                <a:srgbClr val="2DD4BF"/>
              </a:gs>
              <a:gs pos="100000">
                <a:srgbClr val="60A5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07992" y="5879592"/>
            <a:ext cx="6400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824728"/>
            <a:ext cx="2788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F5F5F5"/>
                </a:solidFill>
                <a:latin typeface="Calibri"/>
              </a:rPr>
              <a:t>Skips don't track recommendation rating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5715000"/>
            <a:ext cx="3520440" cy="59436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138160" y="5715000"/>
            <a:ext cx="3520440" cy="7315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02752" y="5879592"/>
            <a:ext cx="6400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5824728"/>
            <a:ext cx="265176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0" i="0">
                <a:solidFill>
                  <a:srgbClr val="F5F5F5"/>
                </a:solidFill>
                <a:latin typeface="Calibri"/>
              </a:rPr>
              <a:t>Tenure ≈ 51 months — strong if retained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1" i="0">
                <a:solidFill>
                  <a:srgbClr val="A7A7A7"/>
                </a:solidFill>
                <a:latin typeface="Calibri"/>
              </a:rPr>
              <a:t>SPOTIFY  ·  USER BEHAVIOR &amp; PATTERNS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644652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i="0">
                <a:solidFill>
                  <a:srgbClr val="A7A7A7"/>
                </a:solidFill>
                <a:latin typeface="Calibri"/>
              </a:rPr>
              <a:t>KEY 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 i="0">
                <a:solidFill>
                  <a:srgbClr val="A7A7A7"/>
                </a:solidFill>
                <a:latin typeface="Calibr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02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7315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A7A7A7"/>
                </a:solidFill>
                <a:latin typeface="Calibri"/>
              </a:rPr>
              <a:t>·  FUNNEL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Sales economics — a thin slice.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430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1">
                <a:solidFill>
                  <a:srgbClr val="A7A7A7"/>
                </a:solidFill>
                <a:latin typeface="Calibri"/>
              </a:rPr>
              <a:t>Of every 100 users, 35 see ads, 25 convert, 22 eventually leave — the platform earns on the gap in the middle.</a:t>
            </a:r>
          </a:p>
        </p:txBody>
      </p:sp>
      <p:pic>
        <p:nvPicPr>
          <p:cNvPr id="6" name="Picture 5" descr="sales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6400800" cy="316720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40880" y="2011680"/>
            <a:ext cx="4617720" cy="13716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040880" y="2011680"/>
            <a:ext cx="91440" cy="1371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50000">
                <a:srgbClr val="2DD4BF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2103120"/>
            <a:ext cx="416052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AD INTERACTION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395728"/>
            <a:ext cx="41605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34.96%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971800"/>
            <a:ext cx="41605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5F5F5"/>
                </a:solidFill>
                <a:latin typeface="Calibri"/>
              </a:rPr>
              <a:t>Only ~1 in 3 users ever engages with an ad — the top-of-funnel ceiling.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090672"/>
            <a:ext cx="41605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50" b="0" i="1">
                <a:solidFill>
                  <a:srgbClr val="A7A7A7"/>
                </a:solidFill>
                <a:latin typeface="Calibri"/>
              </a:rPr>
              <a:t>Source · Dashboard 2 — Ad Interaction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3456432"/>
            <a:ext cx="4617720" cy="13716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40880" y="3456432"/>
            <a:ext cx="91440" cy="1371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50000">
                <a:srgbClr val="F472B6"/>
              </a:gs>
              <a:gs pos="100000">
                <a:srgbClr val="FBBF2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3547872"/>
            <a:ext cx="416052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CONVERSION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840480"/>
            <a:ext cx="41605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24.87%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416552"/>
            <a:ext cx="41605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5F5F5"/>
                </a:solidFill>
                <a:latin typeface="Calibri"/>
              </a:rPr>
              <a:t>Of those who interact, ~1 in 4 converts to paid — the middle-funnel leak.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535424"/>
            <a:ext cx="41605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50" b="0" i="1">
                <a:solidFill>
                  <a:srgbClr val="A7A7A7"/>
                </a:solidFill>
                <a:latin typeface="Calibri"/>
              </a:rPr>
              <a:t>Source · Dashboard 2 — Conversion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4901184"/>
            <a:ext cx="4617720" cy="13716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40880" y="4901184"/>
            <a:ext cx="91440" cy="1371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472B6"/>
              </a:gs>
              <a:gs pos="50000">
                <a:srgbClr val="FF6B6B"/>
              </a:gs>
              <a:gs pos="100000">
                <a:srgbClr val="FBBF2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0" y="4992624"/>
            <a:ext cx="416052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alibri"/>
              </a:rPr>
              <a:t>CHURN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285232"/>
            <a:ext cx="416052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22.24%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861304"/>
            <a:ext cx="41605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5F5F5"/>
                </a:solidFill>
                <a:latin typeface="Calibri"/>
              </a:rPr>
              <a:t>And ~1 in 5 of those who do convert eventually leaves — bottom of funnel.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980176"/>
            <a:ext cx="41605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50" b="0" i="1">
                <a:solidFill>
                  <a:srgbClr val="A7A7A7"/>
                </a:solidFill>
                <a:latin typeface="Calibri"/>
              </a:rPr>
              <a:t>Source · Dashboard 3 — Churn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80760"/>
            <a:ext cx="1106424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1">
                <a:solidFill>
                  <a:srgbClr val="1ED760"/>
                </a:solidFill>
                <a:latin typeface="Calibri"/>
              </a:rPr>
              <a:t>Takeaway · the biggest lever sits in the middle of the funnel — get more of the 35% who interact to actually convert.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1" i="0">
                <a:solidFill>
                  <a:srgbClr val="A7A7A7"/>
                </a:solidFill>
                <a:latin typeface="Calibri"/>
              </a:rPr>
              <a:t>SPOTIFY  ·  USER BEHAVIOR &amp;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644652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i="0">
                <a:solidFill>
                  <a:srgbClr val="A7A7A7"/>
                </a:solidFill>
                <a:latin typeface="Calibri"/>
              </a:rPr>
              <a:t>FUNNEL DEEP-DIVE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 i="0">
                <a:solidFill>
                  <a:srgbClr val="A7A7A7"/>
                </a:solidFill>
                <a:latin typeface="Calibr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02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7315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A7A7A7"/>
                </a:solidFill>
                <a:latin typeface="Calibri"/>
              </a:rPr>
              <a:t>·  TABLEAU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Three views — three audiences.</a:t>
            </a:r>
          </a:p>
        </p:txBody>
      </p:sp>
      <p:pic>
        <p:nvPicPr>
          <p:cNvPr id="5" name="Picture 4" descr="das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3794760" cy="2394047"/>
          </a:xfrm>
          <a:prstGeom prst="rect">
            <a:avLst/>
          </a:prstGeom>
        </p:spPr>
      </p:pic>
      <p:pic>
        <p:nvPicPr>
          <p:cNvPr id="6" name="Picture 5" descr="dash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783080"/>
            <a:ext cx="3794760" cy="2394047"/>
          </a:xfrm>
          <a:prstGeom prst="rect">
            <a:avLst/>
          </a:prstGeom>
        </p:spPr>
      </p:pic>
      <p:pic>
        <p:nvPicPr>
          <p:cNvPr id="7" name="Picture 6" descr="dash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783080"/>
            <a:ext cx="3794760" cy="23940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297680"/>
            <a:ext cx="3794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ED760"/>
                </a:solidFill>
                <a:latin typeface="Calibri"/>
              </a:rPr>
              <a:t>EXECUTIVE  ·  Engagement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617720"/>
            <a:ext cx="9144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736592"/>
            <a:ext cx="37947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F5F5F5"/>
                </a:solidFill>
                <a:latin typeface="Calibri"/>
              </a:rPr>
              <a:t>Avg listening 9.95 · Engagement 0.48 · Skips 10.03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297680"/>
            <a:ext cx="3794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60A5FA"/>
                </a:solidFill>
                <a:latin typeface="Calibri"/>
              </a:rPr>
              <a:t>OPERATIONAL  ·  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617720"/>
            <a:ext cx="9144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50000">
                <a:srgbClr val="2DD4BF"/>
              </a:gs>
              <a:gs pos="100000">
                <a:srgbClr val="60A5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4736592"/>
            <a:ext cx="37947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F5F5F5"/>
                </a:solidFill>
                <a:latin typeface="Calibri"/>
              </a:rPr>
              <a:t>Conversion 24.9% · Premium 27,385 · Ad 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297680"/>
            <a:ext cx="3794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A78BFA"/>
                </a:solidFill>
                <a:latin typeface="Calibri"/>
              </a:rPr>
              <a:t>RETENTION  ·  Churn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4617720"/>
            <a:ext cx="9144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50000">
                <a:srgbClr val="F472B6"/>
              </a:gs>
              <a:gs pos="100000">
                <a:srgbClr val="FBBF2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4736592"/>
            <a:ext cx="37947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F5F5F5"/>
                </a:solidFill>
                <a:latin typeface="Calibri"/>
              </a:rPr>
              <a:t>Churn 22.2% · Likely 38.6% · Tenure 51.3 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49240"/>
            <a:ext cx="7178040" cy="96012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5349240"/>
            <a:ext cx="91440" cy="9601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422392"/>
            <a:ext cx="6858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1ED760"/>
                </a:solidFill>
                <a:latin typeface="Calibri"/>
              </a:rPr>
              <a:t>INTERACTIVE FILTER  ·  COUNTRY · AGE · CHURN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68580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  <a:latin typeface="Calibri"/>
              </a:rPr>
              <a:t>Selecting Brazil + 26-35 + Churn=Yes filters all three dashboards in real time — the same chart slice everywhere.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5349240"/>
            <a:ext cx="4370832" cy="96012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818120" y="5349240"/>
            <a:ext cx="91440" cy="9601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50000">
                <a:srgbClr val="2DD4BF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5422392"/>
            <a:ext cx="40233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50" b="1" i="0">
                <a:solidFill>
                  <a:srgbClr val="60A5FA"/>
                </a:solidFill>
                <a:latin typeface="Calibri"/>
              </a:rPr>
              <a:t>TABLEAU PUBLIC 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5650992"/>
            <a:ext cx="4023360" cy="37548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100" b="0" i="0" dirty="0">
                <a:solidFill>
                  <a:srgbClr val="0000FF"/>
                </a:solidFill>
                <a:latin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Dashboards 1, 2 &amp; 3</a:t>
            </a:r>
            <a:r>
              <a:rPr lang="en-IN" sz="11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public.tableau.com/.../Spotify_final2_and_3</a:t>
            </a:r>
          </a:p>
          <a:p>
            <a:pPr algn="l"/>
            <a:endParaRPr sz="11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1" i="0">
                <a:solidFill>
                  <a:srgbClr val="A7A7A7"/>
                </a:solidFill>
                <a:latin typeface="Calibri"/>
              </a:rPr>
              <a:t>SPOTIFY  ·  USER BEHAVIOR &amp;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644652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i="0">
                <a:solidFill>
                  <a:srgbClr val="A7A7A7"/>
                </a:solidFill>
                <a:latin typeface="Calibri"/>
              </a:rPr>
              <a:t>TABLEAU WALKTHROUGH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 i="0">
                <a:solidFill>
                  <a:srgbClr val="A7A7A7"/>
                </a:solidFill>
                <a:latin typeface="Calibr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02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7315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A7A7A7"/>
                </a:solidFill>
                <a:latin typeface="Calibri"/>
              </a:rPr>
              <a:t>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Four tracks Growth can ship this quarter.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2918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ED760"/>
                </a:solidFill>
                <a:latin typeface="Calibri"/>
              </a:rPr>
              <a:t>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41605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ED760"/>
                </a:solidFill>
                <a:latin typeface="Calibri"/>
              </a:rP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828800"/>
            <a:ext cx="3200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ED760"/>
                </a:solidFill>
                <a:latin typeface="Calibri"/>
              </a:rPr>
              <a:t>EXPECTED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91440" cy="8686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3154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Free = 45% of base — paywall stalls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04487" y="2615184"/>
            <a:ext cx="137160" cy="201168"/>
          </a:xfrm>
          <a:prstGeom prst="rightArrow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69080" y="2286000"/>
            <a:ext cx="420624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30-day Premium trial after 5 skip-days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320040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1ED760"/>
                </a:solidFill>
                <a:latin typeface="Calibri"/>
              </a:rPr>
              <a:t>Conv 24.9% → 30%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4612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246120"/>
            <a:ext cx="91440" cy="8686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50000">
                <a:srgbClr val="2DD4BF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246120"/>
            <a:ext cx="3154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Engagement signal is weak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04487" y="3575304"/>
            <a:ext cx="137160" cy="201168"/>
          </a:xfrm>
          <a:prstGeom prst="rightArrow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69080" y="3246120"/>
            <a:ext cx="420624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Build composite RFM-style ‘intent’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46120"/>
            <a:ext cx="320040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60A5FA"/>
                </a:solidFill>
                <a:latin typeface="Calibri"/>
              </a:rPr>
              <a:t>Lift signal AUC by 0.15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91440" cy="8686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50000">
                <a:srgbClr val="F472B6"/>
              </a:gs>
              <a:gs pos="100000">
                <a:srgbClr val="FBBF2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206240"/>
            <a:ext cx="3154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Skips are noise, not signal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904487" y="4535424"/>
            <a:ext cx="137160" cy="201168"/>
          </a:xfrm>
          <a:prstGeom prst="rightArrow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69080" y="4206240"/>
            <a:ext cx="420624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Replace rec engine with embedding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206240"/>
            <a:ext cx="320040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Skip rate 10 → 6 / 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5166360"/>
            <a:ext cx="91440" cy="8686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472B6"/>
              </a:gs>
              <a:gs pos="50000">
                <a:srgbClr val="FF6B6B"/>
              </a:gs>
              <a:gs pos="100000">
                <a:srgbClr val="FBBF2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5166360"/>
            <a:ext cx="3154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Tenure long, but churn high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904487" y="5495544"/>
            <a:ext cx="137160" cy="201168"/>
          </a:xfrm>
          <a:prstGeom prst="rightArrow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9080" y="5166360"/>
            <a:ext cx="420624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Win-back: discount + curated 'Made-For-You' playlist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5166360"/>
            <a:ext cx="320040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50" b="1" i="0">
                <a:solidFill>
                  <a:srgbClr val="F472B6"/>
                </a:solidFill>
                <a:latin typeface="Calibri"/>
              </a:rPr>
              <a:t>Save 4–5 pp churn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1" i="0">
                <a:solidFill>
                  <a:srgbClr val="A7A7A7"/>
                </a:solidFill>
                <a:latin typeface="Calibri"/>
              </a:rPr>
              <a:t>SPOTIFY  ·  USER BEHAVIOR &amp; 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644652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i="0">
                <a:solidFill>
                  <a:srgbClr val="A7A7A7"/>
                </a:solidFill>
                <a:latin typeface="Calibri"/>
              </a:rPr>
              <a:t>RECOMMENDATIONS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 i="0">
                <a:solidFill>
                  <a:srgbClr val="A7A7A7"/>
                </a:solidFill>
                <a:latin typeface="Calibr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02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7315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A7A7A7"/>
                </a:solidFill>
                <a:latin typeface="Calibri"/>
              </a:rPr>
              <a:t>·  IMPACT &amp;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So what? — ~$2.0M / yr is on the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611880" cy="260604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611880" cy="16459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50000">
                <a:srgbClr val="F472B6"/>
              </a:gs>
              <a:gs pos="100000">
                <a:srgbClr val="FBBF2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285999"/>
            <a:ext cx="361188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5800" b="1" i="0">
                <a:solidFill>
                  <a:srgbClr val="A78BFA"/>
                </a:solidFill>
                <a:latin typeface="Calibri"/>
              </a:rPr>
              <a:t>$1.8M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59"/>
            <a:ext cx="36118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REVENUE AT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19"/>
            <a:ext cx="3611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i="0">
                <a:solidFill>
                  <a:srgbClr val="A7A7A7"/>
                </a:solidFill>
                <a:latin typeface="Calibri"/>
              </a:rPr>
              <a:t>Likely-Churn × premium ARPU,</a:t>
            </a:r>
          </a:p>
          <a:p>
            <a:pPr algn="ctr"/>
            <a:r>
              <a:rPr sz="1050" b="0" i="0">
                <a:solidFill>
                  <a:srgbClr val="A7A7A7"/>
                </a:solidFill>
                <a:latin typeface="Calibri"/>
              </a:rPr>
              <a:t>this quarter alone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74519"/>
            <a:ext cx="3611880" cy="260604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611880" cy="16459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2285999"/>
            <a:ext cx="361188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5800" b="1" i="0">
                <a:solidFill>
                  <a:srgbClr val="1ED760"/>
                </a:solidFill>
                <a:latin typeface="Calibri"/>
              </a:rPr>
              <a:t>−5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566159"/>
            <a:ext cx="36118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TARGET CHURN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931919"/>
            <a:ext cx="3611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i="0">
                <a:solidFill>
                  <a:srgbClr val="A7A7A7"/>
                </a:solidFill>
                <a:latin typeface="Calibri"/>
              </a:rPr>
              <a:t>From 22.2% → 17% via</a:t>
            </a:r>
          </a:p>
          <a:p>
            <a:pPr algn="ctr"/>
            <a:r>
              <a:rPr sz="1050" b="0" i="0">
                <a:solidFill>
                  <a:srgbClr val="A7A7A7"/>
                </a:solidFill>
                <a:latin typeface="Calibri"/>
              </a:rPr>
              <a:t>rec model + win-back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611880" cy="260604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0" y="1874519"/>
            <a:ext cx="3611880" cy="16459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50000">
                <a:srgbClr val="2DD4BF"/>
              </a:gs>
              <a:gs pos="100000">
                <a:srgbClr val="60A5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2285999"/>
            <a:ext cx="361188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5800" b="1" i="0">
                <a:solidFill>
                  <a:srgbClr val="60A5FA"/>
                </a:solidFill>
                <a:latin typeface="Calibri"/>
              </a:rPr>
              <a:t>+5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566159"/>
            <a:ext cx="36118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FREE → PAID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931919"/>
            <a:ext cx="3611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i="0">
                <a:solidFill>
                  <a:srgbClr val="A7A7A7"/>
                </a:solidFill>
                <a:latin typeface="Calibri"/>
              </a:rPr>
              <a:t>Conversion 24.9% → ~30%</a:t>
            </a:r>
          </a:p>
          <a:p>
            <a:pPr algn="ctr"/>
            <a:r>
              <a:rPr sz="1050" b="0" i="0">
                <a:solidFill>
                  <a:srgbClr val="A7A7A7"/>
                </a:solidFill>
                <a:latin typeface="Calibri"/>
              </a:rPr>
              <a:t>via targeted Premium trials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36592"/>
            <a:ext cx="6949440" cy="169164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" y="4736592"/>
            <a:ext cx="91440" cy="16916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472B6"/>
              </a:gs>
              <a:gs pos="50000">
                <a:srgbClr val="FF6B6B"/>
              </a:gs>
              <a:gs pos="100000">
                <a:srgbClr val="FBBF2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864608"/>
            <a:ext cx="6400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COST OF INACTION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38928"/>
            <a:ext cx="640080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5F5F5"/>
                </a:solidFill>
                <a:latin typeface="Calibri"/>
              </a:rPr>
              <a:t>At 22% annual churn the platform rebuys ≈ 11,000 users / 50K each year. At a $35 CAC that's $385K just to stand still — before you fund growth. Doing nothing is a budget 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736592"/>
            <a:ext cx="4005072" cy="169164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35240" y="4736592"/>
            <a:ext cx="91440" cy="16916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4864608"/>
            <a:ext cx="3657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ED760"/>
                </a:solidFill>
                <a:latin typeface="Calibri"/>
              </a:rPr>
              <a:t>BOTTOM-LINE 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138928"/>
            <a:ext cx="365760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$1.0M churn saved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+  $1.0M new paid earned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=  ~$2.0M / yr  uplift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ROI on the 4 plays ≈ 6×.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1" i="0">
                <a:solidFill>
                  <a:srgbClr val="A7A7A7"/>
                </a:solidFill>
                <a:latin typeface="Calibri"/>
              </a:rPr>
              <a:t>SPOTIFY  ·  USER BEHAVIOR &amp;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644652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i="0">
                <a:solidFill>
                  <a:srgbClr val="A7A7A7"/>
                </a:solidFill>
                <a:latin typeface="Calibri"/>
              </a:rPr>
              <a:t>IMPACT &amp;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 i="0">
                <a:solidFill>
                  <a:srgbClr val="A7A7A7"/>
                </a:solidFill>
                <a:latin typeface="Calibr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502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7315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A7A7A7"/>
                </a:solidFill>
                <a:latin typeface="Calibri"/>
              </a:rPr>
              <a:t>·  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we can't see — and what to build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86400" cy="443484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91440" cy="44348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472B6"/>
              </a:gs>
              <a:gs pos="50000">
                <a:srgbClr val="FF6B6B"/>
              </a:gs>
              <a:gs pos="100000">
                <a:srgbClr val="FBBF2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029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FF6B6B"/>
                </a:solidFill>
                <a:latin typeface="Calibri"/>
              </a:rPr>
              <a:t>LIMITATIONS · THE FINE PRINT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542032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4846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Snapshot, not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70048"/>
            <a:ext cx="48463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A7A7A7"/>
                </a:solidFill>
                <a:latin typeface="Calibri"/>
              </a:rPr>
              <a:t>Single CSV; no time-series — lifetime is approximated.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502152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4846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Survey-flavoured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30168"/>
            <a:ext cx="48463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A7A7A7"/>
                </a:solidFill>
                <a:latin typeface="Calibri"/>
              </a:rPr>
              <a:t>music_suggestion_rating biases toward extremes.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62272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80"/>
            <a:ext cx="4846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8-country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90288"/>
            <a:ext cx="48463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A7A7A7"/>
                </a:solidFill>
                <a:latin typeface="Calibri"/>
              </a:rPr>
              <a:t>Africa &amp; much of APAC absent.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5422392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257800"/>
            <a:ext cx="4846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Synthetic-feeling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50408"/>
            <a:ext cx="48463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A7A7A7"/>
                </a:solidFill>
                <a:latin typeface="Calibri"/>
              </a:rPr>
              <a:t>Many features sit unusually flat; treat with care.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83080"/>
            <a:ext cx="5376672" cy="443484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63640" y="1783080"/>
            <a:ext cx="91440" cy="44348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920240"/>
            <a:ext cx="50292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1ED760"/>
                </a:solidFill>
                <a:latin typeface="Calibri"/>
              </a:rPr>
              <a:t>NEXT STEPS · WHAT TO BUILD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2542032"/>
            <a:ext cx="109728" cy="109728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2377440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Predictive churn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67004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A7A7A7"/>
                </a:solidFill>
                <a:latin typeface="Calibri"/>
              </a:rPr>
              <a:t>Productionise logistic + GBM; serve scores per user-id.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502152"/>
            <a:ext cx="109728" cy="109728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3337560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Streaming Tableau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63016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A7A7A7"/>
                </a:solidFill>
                <a:latin typeface="Calibri"/>
              </a:rPr>
              <a:t>Kafka → Snowflake → Tableau live refresh.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4462272"/>
            <a:ext cx="109728" cy="109728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12280" y="4297680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A/B harness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59028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A7A7A7"/>
                </a:solidFill>
                <a:latin typeface="Calibri"/>
              </a:rPr>
              <a:t>Wire each rec into an experiment; measure lift, not feelings.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5422392"/>
            <a:ext cx="109728" cy="109728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12280" y="5257800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Geo expansion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555040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0">
                <a:solidFill>
                  <a:srgbClr val="A7A7A7"/>
                </a:solidFill>
                <a:latin typeface="Calibri"/>
              </a:rPr>
              <a:t>Pull APAC + Africa to validate / break the global pattern.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1" i="0">
                <a:solidFill>
                  <a:srgbClr val="A7A7A7"/>
                </a:solidFill>
                <a:latin typeface="Calibri"/>
              </a:rPr>
              <a:t>SPOTIFY  ·  USER BEHAVIOR &amp; PATTERNS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644652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i="0">
                <a:solidFill>
                  <a:srgbClr val="A7A7A7"/>
                </a:solidFill>
                <a:latin typeface="Calibri"/>
              </a:rPr>
              <a:t>LIMITATIONS &amp; 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 i="0">
                <a:solidFill>
                  <a:srgbClr val="A7A7A7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743200" y="-1828800"/>
            <a:ext cx="6400800" cy="6400800"/>
          </a:xfrm>
          <a:prstGeom prst="ellipse">
            <a:avLst/>
          </a:prstGeom>
          <a:gradFill flip="none" rotWithShape="1">
            <a:gsLst>
              <a:gs pos="0">
                <a:srgbClr val="1DB954">
                  <a:alpha val="50000"/>
                </a:srgbClr>
              </a:gs>
              <a:gs pos="50000">
                <a:srgbClr val="1DB954">
                  <a:alpha val="15000"/>
                </a:srgbClr>
              </a:gs>
              <a:gs pos="100000">
                <a:srgbClr val="000000"/>
              </a:gs>
            </a:gsLst>
            <a:lin ang="8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lbum_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4114800" cy="41198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411480"/>
            <a:ext cx="502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23560" y="411480"/>
            <a:ext cx="73152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A7A7A7"/>
                </a:solidFill>
                <a:latin typeface="Calibri"/>
              </a:rPr>
              <a:t>·  TEAM &amp;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822960"/>
            <a:ext cx="685800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Section D · Group 18.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783080"/>
            <a:ext cx="6858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 i="1" dirty="0">
                <a:solidFill>
                  <a:srgbClr val="7CE0B4"/>
                </a:solidFill>
                <a:latin typeface="Calibri"/>
              </a:rPr>
              <a:t>Five contributors. One record.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468880"/>
            <a:ext cx="6583680" cy="566928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20640" y="2468880"/>
            <a:ext cx="91440" cy="56692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49240" y="2645391"/>
            <a:ext cx="1417320" cy="2139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1150" b="1" i="0" dirty="0">
                <a:solidFill>
                  <a:srgbClr val="1ED760"/>
                </a:solidFill>
                <a:latin typeface="Calibri"/>
              </a:rPr>
              <a:t>Aaryan Yadav </a:t>
            </a:r>
            <a:endParaRPr sz="1150" b="1" i="0" dirty="0">
              <a:solidFill>
                <a:srgbClr val="1ED76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0" y="2468880"/>
            <a:ext cx="22860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Data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127248"/>
            <a:ext cx="6583680" cy="566928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20640" y="3127248"/>
            <a:ext cx="91440" cy="56692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50000">
                <a:srgbClr val="2DD4BF"/>
              </a:gs>
              <a:gs pos="100000">
                <a:srgbClr val="60A5F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3303759"/>
            <a:ext cx="1417320" cy="2139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1150" b="1" i="0" dirty="0">
                <a:solidFill>
                  <a:srgbClr val="60A5FA"/>
                </a:solidFill>
                <a:latin typeface="Calibri"/>
              </a:rPr>
              <a:t>Adarsh</a:t>
            </a:r>
            <a:endParaRPr sz="1150" b="1" i="0" dirty="0">
              <a:solidFill>
                <a:srgbClr val="60A5FA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26880" y="3137135"/>
            <a:ext cx="22860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EDA &amp; Insights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785616"/>
            <a:ext cx="6583680" cy="566928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20640" y="3785616"/>
            <a:ext cx="91440" cy="56692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50000">
                <a:srgbClr val="F472B6"/>
              </a:gs>
              <a:gs pos="100000">
                <a:srgbClr val="FBBF2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49240" y="3962127"/>
            <a:ext cx="1417320" cy="2139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1150" b="1" dirty="0">
                <a:solidFill>
                  <a:srgbClr val="A78BFA"/>
                </a:solidFill>
                <a:latin typeface="Calibri"/>
              </a:rPr>
              <a:t>Aditya Bhardwaj</a:t>
            </a:r>
            <a:endParaRPr sz="1150" b="1" i="0" dirty="0">
              <a:solidFill>
                <a:srgbClr val="A78BFA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26880" y="3785616"/>
            <a:ext cx="22860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Advanced Analytics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4443984"/>
            <a:ext cx="6583680" cy="566928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120640" y="4443984"/>
            <a:ext cx="91440" cy="56692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49240" y="4620495"/>
            <a:ext cx="1417320" cy="2139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1150" b="1" dirty="0">
                <a:solidFill>
                  <a:srgbClr val="7CE0B4"/>
                </a:solidFill>
                <a:latin typeface="Calibri"/>
              </a:rPr>
              <a:t>Ajit Kumar Prasad</a:t>
            </a:r>
            <a:endParaRPr sz="1150" b="1" i="0" dirty="0">
              <a:solidFill>
                <a:srgbClr val="7CE0B4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26880" y="4430537"/>
            <a:ext cx="22860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Tableau Dashboards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5102352"/>
            <a:ext cx="6583680" cy="566928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120640" y="5102352"/>
            <a:ext cx="91440" cy="56692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472B6"/>
              </a:gs>
              <a:gs pos="50000">
                <a:srgbClr val="FF6B6B"/>
              </a:gs>
              <a:gs pos="100000">
                <a:srgbClr val="FBBF2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49240" y="5278863"/>
            <a:ext cx="1417320" cy="2139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1150" b="1" i="0" dirty="0">
                <a:solidFill>
                  <a:srgbClr val="F472B6"/>
                </a:solidFill>
                <a:latin typeface="Calibri"/>
              </a:rPr>
              <a:t>Lokendra Singh</a:t>
            </a:r>
            <a:endParaRPr sz="1150" b="1" i="0" dirty="0">
              <a:solidFill>
                <a:srgbClr val="F472B6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326880" y="5282711"/>
            <a:ext cx="228600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Recommendations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532120"/>
            <a:ext cx="4114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053328"/>
            <a:ext cx="4114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 i="1" dirty="0">
                <a:solidFill>
                  <a:srgbClr val="7CE0B4"/>
                </a:solidFill>
                <a:latin typeface="Calibri"/>
              </a:rPr>
              <a:t>press play on the Q&amp;A.</a:t>
            </a:r>
          </a:p>
        </p:txBody>
      </p:sp>
      <p:pic>
        <p:nvPicPr>
          <p:cNvPr id="35" name="Picture 34" descr="equalizer_c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486400"/>
            <a:ext cx="4846320" cy="154855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1" i="0">
                <a:solidFill>
                  <a:srgbClr val="A7A7A7"/>
                </a:solidFill>
                <a:latin typeface="Calibri"/>
              </a:rPr>
              <a:t>SPOTIFY  ·  USER BEHAVIOR &amp; PATTERNS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19088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i="0" dirty="0">
                <a:solidFill>
                  <a:srgbClr val="A7A7A7"/>
                </a:solidFill>
                <a:latin typeface="Calibri"/>
              </a:rPr>
              <a:t>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00" b="0" i="0">
                <a:solidFill>
                  <a:srgbClr val="A7A7A7"/>
                </a:solidFill>
                <a:latin typeface="Calibri"/>
              </a:rPr>
              <a:t>11 / 11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26CF683-036D-D336-0FB3-E373270F030A}"/>
              </a:ext>
            </a:extLst>
          </p:cNvPr>
          <p:cNvSpPr/>
          <p:nvPr/>
        </p:nvSpPr>
        <p:spPr>
          <a:xfrm>
            <a:off x="5125123" y="1827907"/>
            <a:ext cx="6583680" cy="566928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22B667F-77C3-D686-AFC3-36FBF964CF9A}"/>
              </a:ext>
            </a:extLst>
          </p:cNvPr>
          <p:cNvSpPr/>
          <p:nvPr/>
        </p:nvSpPr>
        <p:spPr>
          <a:xfrm>
            <a:off x="5125123" y="1827907"/>
            <a:ext cx="91440" cy="56692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DB954"/>
              </a:gs>
              <a:gs pos="60000">
                <a:srgbClr val="1ED760"/>
              </a:gs>
              <a:gs pos="100000">
                <a:srgbClr val="7CE0B4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43BDD8-ECB8-D9E3-9229-82E9B4CD58F8}"/>
              </a:ext>
            </a:extLst>
          </p:cNvPr>
          <p:cNvSpPr txBox="1"/>
          <p:nvPr/>
        </p:nvSpPr>
        <p:spPr>
          <a:xfrm>
            <a:off x="5353723" y="2004418"/>
            <a:ext cx="1417320" cy="2139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US" sz="1150" b="1" dirty="0">
                <a:solidFill>
                  <a:srgbClr val="1ED760"/>
                </a:solidFill>
              </a:rPr>
              <a:t>Anwesha Adhikari</a:t>
            </a:r>
            <a:endParaRPr sz="1150" b="1" i="0" dirty="0">
              <a:solidFill>
                <a:srgbClr val="1ED760"/>
              </a:solidFill>
              <a:latin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ED7ADB-6716-E67F-F634-4E26AEEFEFAF}"/>
              </a:ext>
            </a:extLst>
          </p:cNvPr>
          <p:cNvSpPr txBox="1"/>
          <p:nvPr/>
        </p:nvSpPr>
        <p:spPr>
          <a:xfrm>
            <a:off x="9281160" y="1827907"/>
            <a:ext cx="22860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Data Engineering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542AD5-6DCF-ABDF-F5DA-248E393EEFF9}"/>
              </a:ext>
            </a:extLst>
          </p:cNvPr>
          <p:cNvSpPr txBox="1"/>
          <p:nvPr/>
        </p:nvSpPr>
        <p:spPr>
          <a:xfrm>
            <a:off x="7237207" y="2612505"/>
            <a:ext cx="1546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2401010011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EEECEB-33CA-40AB-44C6-FDF389ED823E}"/>
              </a:ext>
            </a:extLst>
          </p:cNvPr>
          <p:cNvSpPr txBox="1"/>
          <p:nvPr/>
        </p:nvSpPr>
        <p:spPr>
          <a:xfrm>
            <a:off x="7237207" y="1985111"/>
            <a:ext cx="1546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2401010091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C2BDB1-0A1C-48DF-E03E-8F365444971C}"/>
              </a:ext>
            </a:extLst>
          </p:cNvPr>
          <p:cNvSpPr txBox="1"/>
          <p:nvPr/>
        </p:nvSpPr>
        <p:spPr>
          <a:xfrm>
            <a:off x="7221071" y="3307724"/>
            <a:ext cx="1546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2401010026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A09A6B-8A8A-5E2F-F9BD-8AAB4B64D803}"/>
              </a:ext>
            </a:extLst>
          </p:cNvPr>
          <p:cNvSpPr txBox="1"/>
          <p:nvPr/>
        </p:nvSpPr>
        <p:spPr>
          <a:xfrm>
            <a:off x="7223760" y="3930580"/>
            <a:ext cx="1546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2401020007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1002B0-E8CC-7645-2822-0764D4F36167}"/>
              </a:ext>
            </a:extLst>
          </p:cNvPr>
          <p:cNvSpPr txBox="1"/>
          <p:nvPr/>
        </p:nvSpPr>
        <p:spPr>
          <a:xfrm>
            <a:off x="7237207" y="4588948"/>
            <a:ext cx="1546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2401010049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01A7F2-F88A-D062-ED70-7EA9B5CBC146}"/>
              </a:ext>
            </a:extLst>
          </p:cNvPr>
          <p:cNvSpPr txBox="1"/>
          <p:nvPr/>
        </p:nvSpPr>
        <p:spPr>
          <a:xfrm>
            <a:off x="7237207" y="5256460"/>
            <a:ext cx="1546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2401010254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1266</Words>
  <Application>Microsoft Macintosh PowerPoint</Application>
  <PresentationFormat>Widescreen</PresentationFormat>
  <Paragraphs>239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Aaryan Yadav</cp:lastModifiedBy>
  <cp:revision>6</cp:revision>
  <dcterms:created xsi:type="dcterms:W3CDTF">2013-01-27T09:14:16Z</dcterms:created>
  <dcterms:modified xsi:type="dcterms:W3CDTF">2026-04-29T17:27:41Z</dcterms:modified>
  <cp:category/>
</cp:coreProperties>
</file>